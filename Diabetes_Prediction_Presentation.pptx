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  <p:sldId id="270" r:id="rId21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12E33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12E33"/>
                </a:solidFill>
                <a:latin typeface="Calibri"/>
              </a:rPr>
              <a:t>Precision vs. Recall across Thresholds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A896"/>
            </a:solidFill>
            <a:ln w="31750" cap="flat">
              <a:solidFill>
                <a:srgbClr val="00A8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0A896"/>
              </a:solidFill>
              <a:ln w="9525" cap="flat">
                <a:solidFill>
                  <a:srgbClr val="00A8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0.4</c:v>
                  </c:pt>
                  <c:pt idx="2">
                    <c:v>0.3</c:v>
                  </c:pt>
                  <c:pt idx="3">
                    <c:v>0.2</c:v>
                  </c:pt>
                  <c:pt idx="4">
                    <c:v>0.1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63.2</c:v>
                </c:pt>
                <c:pt idx="1">
                  <c:v>66.4</c:v>
                </c:pt>
                <c:pt idx="2">
                  <c:v>71.4</c:v>
                </c:pt>
                <c:pt idx="3">
                  <c:v>77.6</c:v>
                </c:pt>
                <c:pt idx="4">
                  <c:v>85.2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0.5</c:v>
                  </c:pt>
                  <c:pt idx="1">
                    <c:v>0.4</c:v>
                  </c:pt>
                  <c:pt idx="2">
                    <c:v>0.3</c:v>
                  </c:pt>
                  <c:pt idx="3">
                    <c:v>0.2</c:v>
                  </c:pt>
                  <c:pt idx="4">
                    <c:v>0.1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86.2</c:v>
                </c:pt>
                <c:pt idx="1">
                  <c:v>79.1</c:v>
                </c:pt>
                <c:pt idx="2">
                  <c:v>71.4</c:v>
                </c:pt>
                <c:pt idx="3">
                  <c:v>60</c:v>
                </c:pt>
                <c:pt idx="4">
                  <c:v>44.9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Decision Threshold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94.95</c:v>
                </c:pt>
                <c:pt idx="1">
                  <c:v>71.35</c:v>
                </c:pt>
                <c:pt idx="2">
                  <c:v>71.43</c:v>
                </c:pt>
                <c:pt idx="3">
                  <c:v>71.39</c:v>
                </c:pt>
                <c:pt idx="4">
                  <c:v>95.94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SVM (Linear)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6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94.93</c:v>
                </c:pt>
                <c:pt idx="1">
                  <c:v>71.65</c:v>
                </c:pt>
                <c:pt idx="2">
                  <c:v>70.49</c:v>
                </c:pt>
                <c:pt idx="3">
                  <c:v>71.06</c:v>
                </c:pt>
                <c:pt idx="4">
                  <c:v>95.76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6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7B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bdelrhman-elnajjar/Diabetes_Prediction_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bdelrhman-elnajjar/Diabetes_Prediction_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hyperlink" Target="https://github.com/abdelrhman-elnajjar/Diabetes_Prediction_ML" TargetMode="External"/><Relationship Id="rId101" Type="http://schemas.openxmlformats.org/officeDocument/2006/relationships/hyperlink" Target="https://diabetes-ml-project-2026.streamlit.app/" TargetMode="Externa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hyperlink" Target="https://diabetes-ml-project-2026.streamlit.app/" TargetMode="External"/><Relationship Id="rId101" Type="http://schemas.openxmlformats.org/officeDocument/2006/relationships/hyperlink" Target="https://github.com/abdelrhman-elnajjar/Diabetes_Prediction_ML" TargetMode="External"/><Relationship Id="rId102" Type="http://schemas.openxmlformats.org/officeDocument/2006/relationships/image" Target="../media/image_deploy_screenshot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Prediction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Logistic Regression and Support Vector Machines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Abdelrhman Ehab Soliman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Elmogy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Kholoud Amer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Yasmin Mahmoud</a:t>
            </a:r>
            <a:endParaRPr lang="en-US" sz="1600" dirty="0"/>
          </a:p>
        </p:txBody>
      </p:sp>
      <p:sp>
        <p:nvSpPr>
          <p:cNvPr id="14" name="Text 12">
            <a:hlinkClick r:id="rId1" tooltip=""/>
          </p:cNvPr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github.com/abdelrhman-elnajjar/Diabetes_Prediction_ML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481328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81328" y="2048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diabetes prediction matters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78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880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81328" y="2852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3191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patient records, 9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21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995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81328" y="4334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split, scaling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64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66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81328" y="5138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81328" y="5477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evaluation, threshold tuning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50608" y="1709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50608" y="2048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 results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0" y="2578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2880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50608" y="2852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50608" y="3191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performs best?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3721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40233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50608" y="39959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50608" y="4334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work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0800" y="4864608"/>
            <a:ext cx="502920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12E3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331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269748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diabetes before it's diagnosed?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91840" y="5212080"/>
            <a:ext cx="2011680" cy="20116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6858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global burden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10515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affects hundreds of millions worldwide and is often diagnosed late.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2057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saves lives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patients early allows timely intervention and lifestyle changes.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34290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screening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37947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clinical measurements (glucose, HbA1c, BMI) can power predictive models.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48006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516636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classical ML models to classify patients as diabetic or not.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463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600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96,146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Duplicates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F4F9F9"/>
          </a:solidFill>
          <a:ln w="12700">
            <a:solidFill>
              <a:srgbClr val="DDEB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6002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852160" y="2286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7124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37124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371246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heart_disease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421538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718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HbA1c_level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4718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blood_glucose_level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60720" y="47183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(target)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0" y="1463040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012E33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1965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503920" y="2468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8.5% of patients in the dataset have diabetes.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324612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accuracy alone is misleading — a model predicting "no diabetes" every time would still score ~91% accuracy.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03920" y="45720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rely on Precision, Recall, F1, and ROC-AUC instead.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3,854 duplicate records; verified zero missing values.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categorical features: gender &amp; smoking_history.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192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4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 / 30% testing, stratified to preserve class ratio.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0800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973836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3836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3836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 (mean=0, std=1) using StandardScaler.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classical ML algorithms were trained and evaluated using an identical pipeline for a fair comparison: Logistic Regression and Support Vector Machine (Linear kernel).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—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default threshold = 0.5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95.86%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71216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86.18%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71216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10912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63.22%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10912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50608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14" name="Text 12"/>
          <p:cNvSpPr/>
          <p:nvPr/>
        </p:nvSpPr>
        <p:spPr>
          <a:xfrm>
            <a:off x="7150608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72.94%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50608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90304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95.94%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90304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884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Yes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087368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48840" y="4087368"/>
            <a:ext cx="1417320" cy="566928"/>
          </a:xfrm>
          <a:prstGeom prst="rect">
            <a:avLst/>
          </a:prstGeom>
          <a:solidFill>
            <a:srgbClr val="D6F0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26,041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4087368"/>
            <a:ext cx="1417320" cy="566928"/>
          </a:xfrm>
          <a:prstGeom prst="rect">
            <a:avLst/>
          </a:prstGeom>
          <a:solidFill>
            <a:srgbClr val="F4F9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654296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48840" y="4654296"/>
            <a:ext cx="1417320" cy="566928"/>
          </a:xfrm>
          <a:prstGeom prst="rect">
            <a:avLst/>
          </a:prstGeom>
          <a:solidFill>
            <a:srgbClr val="FBE0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4654296"/>
            <a:ext cx="1417320" cy="566928"/>
          </a:xfrm>
          <a:prstGeom prst="rect">
            <a:avLst/>
          </a:prstGeom>
          <a:solidFill>
            <a:srgbClr val="D6F0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30175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BE0DE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CLINICAL INSIGHT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2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936 missed diagnoses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4088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threshold 0.5, the model misses 37% of real diabetes cases (False Negatives) — the most costly error in a medical context.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40880" y="5120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2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motivated our threshold-tuning experiment on the next slide.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Precision and Recall for a medical use-case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64008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463040"/>
            <a:ext cx="4023360" cy="3749040"/>
          </a:xfrm>
          <a:prstGeom prst="roundRect">
            <a:avLst>
              <a:gd name="adj" fmla="val 1951"/>
            </a:avLst>
          </a:prstGeom>
          <a:solidFill>
            <a:srgbClr val="012E33"/>
          </a:solidFill>
          <a:ln/>
        </p:spPr>
      </p:sp>
      <p:sp>
        <p:nvSpPr>
          <p:cNvPr id="6" name="Text 3"/>
          <p:cNvSpPr/>
          <p:nvPr/>
        </p:nvSpPr>
        <p:spPr>
          <a:xfrm>
            <a:off x="7680960" y="1691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THRESHOLD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1965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0.3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68096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92640" y="2788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80960" y="317296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692640" y="31729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80960" y="355701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692640" y="35570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71.4%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680960" y="39410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92640" y="394106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936 → 727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680960" y="44348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Precision and Recall converge — reducing missed diagnoses without excessive false alarms.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 Machine —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kernel, threshold = 0.3 (matched to Logistic Regression for fair comparison)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94.93%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71216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8" name="Text 6"/>
          <p:cNvSpPr/>
          <p:nvPr/>
        </p:nvSpPr>
        <p:spPr>
          <a:xfrm>
            <a:off x="2871216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71216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10912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70.49%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10912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50608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F4F9F9"/>
          </a:solidFill>
          <a:ln/>
        </p:spPr>
      </p:sp>
      <p:sp>
        <p:nvSpPr>
          <p:cNvPr id="14" name="Text 12"/>
          <p:cNvSpPr/>
          <p:nvPr/>
        </p:nvSpPr>
        <p:spPr>
          <a:xfrm>
            <a:off x="7150608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71.06%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50608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90304" y="1463040"/>
            <a:ext cx="2048256" cy="1188720"/>
          </a:xfrm>
          <a:prstGeom prst="roundRect">
            <a:avLst>
              <a:gd name="adj" fmla="val 6154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1572768"/>
            <a:ext cx="20482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95.76%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90304" y="2103120"/>
            <a:ext cx="20482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884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66160" y="3520440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520440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Yes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087368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148840" y="4087368"/>
            <a:ext cx="1417320" cy="566928"/>
          </a:xfrm>
          <a:prstGeom prst="rect">
            <a:avLst/>
          </a:prstGeom>
          <a:solidFill>
            <a:srgbClr val="D6F0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26,589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66160" y="4087368"/>
            <a:ext cx="1417320" cy="566928"/>
          </a:xfrm>
          <a:prstGeom prst="rect">
            <a:avLst/>
          </a:prstGeom>
          <a:solidFill>
            <a:srgbClr val="F4F9F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66160" y="4087368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4654296"/>
            <a:ext cx="1417320" cy="566928"/>
          </a:xfrm>
          <a:prstGeom prst="rect">
            <a:avLst/>
          </a:prstGeom>
          <a:solidFill>
            <a:srgbClr val="012E3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48840" y="4654296"/>
            <a:ext cx="1417320" cy="566928"/>
          </a:xfrm>
          <a:prstGeom prst="rect">
            <a:avLst/>
          </a:prstGeom>
          <a:solidFill>
            <a:srgbClr val="FBE0D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566160" y="4654296"/>
            <a:ext cx="1417320" cy="566928"/>
          </a:xfrm>
          <a:prstGeom prst="rect">
            <a:avLst/>
          </a:prstGeom>
          <a:solidFill>
            <a:srgbClr val="D6F0E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465429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1,794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30175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EAF5F4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BEHAVIOR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 Classifier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4088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took ~4 minutes (vs. seconds for Logistic Regression), reflecting SVM's higher computational cost on ~67K training rows.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040880" y="50749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Mean F1: 72.24% — confirming stable performance across folds.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vs. SVM (Linear) — both at threshold = 0.3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10698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models perform almost identically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deciding factor isn't just accuracy.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0A46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Matters Most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1605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healthcare, missing a real diabetes case (False Negative) is far costlier than a false alarm.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0A4650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Slightly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41605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higher Recall (71.4% vs 70.5%) and ROC-AUC (95.9% vs 95.8%).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301752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0A465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329184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Simplicity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4160520"/>
            <a:ext cx="2880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trained in seconds; SVM took ~4 minutes for a near-identical result.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85623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70992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recommended as the final model — best Recall/AUC trade-off with minimal training cost.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72491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7860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achieved ROC-AUC above 95%, showing strong discriminative power.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3593592"/>
            <a:ext cx="109728" cy="1097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447288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(0.5 → 0.3) reduced missed diabetes cases by over 20% with only ~1% accuracy trade-off.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0" cy="475488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185623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170992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RBF kernel SVM and ensemble methods (e.g., Random Forest) for further comparison.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0" y="272491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57860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class-weighting or resampling (SMOTE) as an alternative to threshold tuning.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3593592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4472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model behind a simple GUI for real-time prediction.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Abdelrhman Ehab Soliman   •   Mohamed Elmogy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Dr. Kholoud Amer &amp; Dr. Yasmin Mahmoud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989320"/>
            <a:ext cx="5852160" cy="502920"/>
          </a:xfrm>
          <a:prstGeom prst="roundRect">
            <a:avLst>
              <a:gd name="adj" fmla="val 10909"/>
            </a:avLst>
          </a:prstGeom>
          <a:solidFill>
            <a:srgbClr val="0A4650"/>
          </a:solidFill>
          <a:ln/>
        </p:spPr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914400" y="5989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github.com/abdelrhman-elnajjar/Diabetes_Prediction_ML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90" name="Subtitle"/>
          <p:cNvSpPr/>
          <p:nvPr/>
        </p:nvSpPr>
        <p:spPr>
          <a:xfrm>
            <a:off x="731520" y="868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model is loaded once at startup — it is never retrained per request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4F9F9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is label-encoded and scaled with the saved encoders.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388620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8862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trained Logistic Regression model from model.joblib.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192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F4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81228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1228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228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probability, compared against threshold = 0.30.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08008" y="2651760"/>
            <a:ext cx="292608" cy="365760"/>
          </a:xfrm>
          <a:prstGeom prst="chevron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09760" y="137160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EA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9738360" y="16459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97383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738360" y="2377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738360" y="2788920"/>
            <a:ext cx="2148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Diabetes or No Diabetes with the probability score.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once and saved with joblib (model.joblib, scaler.joblib, encoders.joblib). The Streamlit app loads these saved artifacts on startup and never retrains.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1" name="Label GitHub"/>
          <p:cNvSpPr/>
          <p:nvPr/>
        </p:nvSpPr>
        <p:spPr>
          <a:xfrm>
            <a:off x="731520" y="548640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92" name="Link GitHub">
            <a:hlinkClick r:id="rId100" tooltip=""/>
          </p:cNvPr>
          <p:cNvSpPr/>
          <p:nvPr/>
        </p:nvSpPr>
        <p:spPr>
          <a:xfrm>
            <a:off x="731520" y="5760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github.com/abdelrhman-elnajjar/Diabetes_Prediction_ML</a:t>
            </a:r>
            <a:endParaRPr lang="en-US" sz="1250" dirty="0"/>
          </a:p>
        </p:txBody>
      </p:sp>
      <p:sp>
        <p:nvSpPr>
          <p:cNvPr id="93" name="Label Demo"/>
          <p:cNvSpPr/>
          <p:nvPr/>
        </p:nvSpPr>
        <p:spPr>
          <a:xfrm>
            <a:off x="6858000" y="5486400"/>
            <a:ext cx="460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STREAMLIT APP</a:t>
            </a:r>
            <a:endParaRPr lang="en-US" sz="1100" dirty="0"/>
          </a:p>
        </p:txBody>
      </p:sp>
      <p:sp>
        <p:nvSpPr>
          <p:cNvPr id="94" name="Link Demo">
            <a:hlinkClick r:id="rId101" tooltip=""/>
          </p:cNvPr>
          <p:cNvSpPr/>
          <p:nvPr/>
        </p:nvSpPr>
        <p:spPr>
          <a:xfrm>
            <a:off x="6858000" y="5760720"/>
            <a:ext cx="460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diabetes-ml-project-2026.streamlit.app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Subtitle"/>
          <p:cNvSpPr/>
          <p:nvPr/>
        </p:nvSpPr>
        <p:spPr>
          <a:xfrm>
            <a:off x="731520" y="868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Live Demo — publicly accessible, no installation required</a:t>
            </a:r>
            <a:endParaRPr lang="en-US" sz="1200" dirty="0"/>
          </a:p>
        </p:txBody>
      </p:sp>
      <p:sp>
        <p:nvSpPr>
          <p:cNvPr id="4" name="Paragraph 1"/>
          <p:cNvSpPr/>
          <p:nvPr/>
        </p:nvSpPr>
        <p:spPr>
          <a:xfrm>
            <a:off x="731520" y="1554480"/>
            <a:ext cx="53340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Logistic Regression model was deployed using Streamlit. Users can enter patient information and receive a diabetes prediction, probability, and decision threshold through the web interface.</a:t>
            </a:r>
            <a:endParaRPr lang="en-US" sz="1300" dirty="0"/>
          </a:p>
        </p:txBody>
      </p:sp>
      <p:sp>
        <p:nvSpPr>
          <p:cNvPr id="5" name="Paragraph 2"/>
          <p:cNvSpPr/>
          <p:nvPr/>
        </p:nvSpPr>
        <p:spPr>
          <a:xfrm>
            <a:off x="731520" y="3291840"/>
            <a:ext cx="5334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application loads the saved model and preprocessing components and does not retrain the model for each user.</a:t>
            </a:r>
            <a:endParaRPr lang="en-US" sz="1300" dirty="0"/>
          </a:p>
        </p:txBody>
      </p:sp>
      <p:sp>
        <p:nvSpPr>
          <p:cNvPr id="6" name="Demo Button">
            <a:hlinkClick r:id="rId100" tooltip="Open the live Streamlit app"/>
          </p:cNvPr>
          <p:cNvSpPr/>
          <p:nvPr/>
        </p:nvSpPr>
        <p:spPr>
          <a:xfrm>
            <a:off x="731520" y="4526280"/>
            <a:ext cx="352044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0" invalidUrl="" action="" tgtFrame="" tooltip="Open the live Streamlit 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Open Live Demo</a:t>
            </a:r>
            <a:endParaRPr lang="en-US" sz="1300" dirty="0"/>
          </a:p>
        </p:txBody>
      </p:sp>
      <p:sp>
        <p:nvSpPr>
          <p:cNvPr id="7" name="GitHub Link">
            <a:hlinkClick r:id="rId101" tooltip=""/>
          </p:cNvPr>
          <p:cNvSpPr/>
          <p:nvPr/>
        </p:nvSpPr>
        <p:spPr>
          <a:xfrm>
            <a:off x="731520" y="5257800"/>
            <a:ext cx="533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🔗  github.com/abdelrhman-elnajjar/Diabetes_Prediction_ML</a:t>
            </a:r>
            <a:endParaRPr lang="en-US" sz="1150" dirty="0"/>
          </a:p>
        </p:txBody>
      </p:sp>
      <p:pic>
        <p:nvPicPr>
          <p:cNvPr id="8" name="GUI Screenshot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844962" y="1554480"/>
            <a:ext cx="4170555" cy="4100000"/>
          </a:xfrm>
          <a:prstGeom prst="rect">
            <a:avLst/>
          </a:prstGeom>
          <a:ln w="9525">
            <a:solidFill>
              <a:srgbClr val="D7E6E5"/>
            </a:solidFill>
          </a:ln>
          <a:effectLst>
            <a:outerShdw blurRad="90000" dist="30000" dir="5400000" rotWithShape="0">
              <a:srgbClr val="012E33">
                <a:alpha val="22000"/>
              </a:srgbClr>
            </a:outerShdw>
          </a:effectLst>
        </p:spPr>
      </p:pic>
      <p:sp>
        <p:nvSpPr>
          <p:cNvPr id="9" name="Caption"/>
          <p:cNvSpPr/>
          <p:nvPr/>
        </p:nvSpPr>
        <p:spPr>
          <a:xfrm>
            <a:off x="6844962" y="5715000"/>
            <a:ext cx="41705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prediction interface</a:t>
            </a:r>
            <a:endParaRPr lang="en-US" sz="1000" dirty="0"/>
          </a:p>
        </p:txBody>
      </p:sp>
      <p:sp>
        <p:nvSpPr>
          <p:cNvPr id="10" name="Page Number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3000" dirty="0"/>
          </a:p>
        </p:txBody>
      </p:sp>
      <p:sp>
        <p:nvSpPr>
          <p:cNvPr id="3" name="Label Prepared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4" name="Dot P1"/>
          <p:cNvSpPr/>
          <p:nvPr/>
        </p:nvSpPr>
        <p:spPr>
          <a:xfrm>
            <a:off x="731520" y="220091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Name P1"/>
          <p:cNvSpPr/>
          <p:nvPr/>
        </p:nvSpPr>
        <p:spPr>
          <a:xfrm>
            <a:off x="1097280" y="205460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Abdelrhman Ehab Soliman</a:t>
            </a:r>
            <a:endParaRPr lang="en-US" sz="1800" dirty="0"/>
          </a:p>
        </p:txBody>
      </p:sp>
      <p:sp>
        <p:nvSpPr>
          <p:cNvPr id="6" name="Dot P2"/>
          <p:cNvSpPr/>
          <p:nvPr/>
        </p:nvSpPr>
        <p:spPr>
          <a:xfrm>
            <a:off x="731520" y="329819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Name P2"/>
          <p:cNvSpPr/>
          <p:nvPr/>
        </p:nvSpPr>
        <p:spPr>
          <a:xfrm>
            <a:off x="1097280" y="315188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Elmogy</a:t>
            </a:r>
            <a:endParaRPr lang="en-US" sz="1800" dirty="0"/>
          </a:p>
        </p:txBody>
      </p:sp>
      <p:sp>
        <p:nvSpPr>
          <p:cNvPr id="8" name="Divider"/>
          <p:cNvSpPr/>
          <p:nvPr/>
        </p:nvSpPr>
        <p:spPr>
          <a:xfrm>
            <a:off x="6263640" y="1371600"/>
            <a:ext cx="0" cy="3383280"/>
          </a:xfrm>
          <a:prstGeom prst="line">
            <a:avLst/>
          </a:prstGeom>
          <a:noFill/>
          <a:ln w="12700">
            <a:solidFill>
              <a:srgbClr val="D7E6E5"/>
            </a:solidFill>
            <a:prstDash val="solid"/>
          </a:ln>
        </p:spPr>
      </p:sp>
      <p:sp>
        <p:nvSpPr>
          <p:cNvPr id="9" name="Label Supervised"/>
          <p:cNvSpPr/>
          <p:nvPr/>
        </p:nvSpPr>
        <p:spPr>
          <a:xfrm>
            <a:off x="6583680" y="1371600"/>
            <a:ext cx="48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200" dirty="0"/>
          </a:p>
        </p:txBody>
      </p:sp>
      <p:sp>
        <p:nvSpPr>
          <p:cNvPr id="10" name="Dot S1"/>
          <p:cNvSpPr/>
          <p:nvPr/>
        </p:nvSpPr>
        <p:spPr>
          <a:xfrm>
            <a:off x="6583680" y="220091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Name S1"/>
          <p:cNvSpPr/>
          <p:nvPr/>
        </p:nvSpPr>
        <p:spPr>
          <a:xfrm>
            <a:off x="6949440" y="205460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Kholoud Amer</a:t>
            </a:r>
            <a:endParaRPr lang="en-US" sz="1800" dirty="0"/>
          </a:p>
        </p:txBody>
      </p:sp>
      <p:sp>
        <p:nvSpPr>
          <p:cNvPr id="12" name="Dot S2"/>
          <p:cNvSpPr/>
          <p:nvPr/>
        </p:nvSpPr>
        <p:spPr>
          <a:xfrm>
            <a:off x="6583680" y="329819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Name S2"/>
          <p:cNvSpPr/>
          <p:nvPr/>
        </p:nvSpPr>
        <p:spPr>
          <a:xfrm>
            <a:off x="6949440" y="315188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Yasmin Mahmoud</a:t>
            </a:r>
            <a:endParaRPr lang="en-US" sz="1800" dirty="0"/>
          </a:p>
        </p:txBody>
      </p:sp>
      <p:sp>
        <p:nvSpPr>
          <p:cNvPr id="14" name="Tagline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Prediction System — A Machine Learning Project</a:t>
            </a:r>
            <a:endParaRPr lang="en-US" sz="1350" dirty="0"/>
          </a:p>
        </p:txBody>
      </p:sp>
      <p:sp>
        <p:nvSpPr>
          <p:cNvPr id="15" name="Page Number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2026-08-12T01:52:46Z</dcterms:created>
  <dcterms:modified xsi:type="dcterms:W3CDTF">2026-08-12T01:52:46Z</dcterms:modified>
</cp:coreProperties>
</file>